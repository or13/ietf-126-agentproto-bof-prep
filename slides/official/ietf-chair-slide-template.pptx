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4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meeting/120/materials/slides-120-eodir-sessb-note-well-dos-and-donts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179d949db_7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7179d949db_7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2424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IETF Note Well should be shown at the start of every IETF working session. The guidance below is </a:t>
            </a:r>
            <a:r>
              <a:rPr lang="en-US" sz="1200" u="sng">
                <a:solidFill>
                  <a:srgbClr val="1976D2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adapted from IETF legal counsel presentation during IETF 120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B5E20"/>
                </a:solidFill>
                <a:highlight>
                  <a:srgbClr val="E8F5E9"/>
                </a:highlight>
                <a:latin typeface="Roboto"/>
                <a:ea typeface="Roboto"/>
                <a:cs typeface="Roboto"/>
                <a:sym typeface="Roboto"/>
              </a:rPr>
              <a:t>DO</a:t>
            </a:r>
            <a:endParaRPr sz="1200">
              <a:solidFill>
                <a:srgbClr val="1B5E20"/>
              </a:solidFill>
              <a:highlight>
                <a:srgbClr val="E8F5E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make sure people have enough time to read through the slide before you move on,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give a high-level summary of what’s covered in the Note Well: “IETF policies on conduct, privacy and IPR.”,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encourage people to read through all the linked policies &amp; documents in detail before participating or contributing,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 explain where people can direct questions or concerns (IETF Executive Director or Ombudsteam).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B33F00"/>
                </a:solidFill>
                <a:highlight>
                  <a:srgbClr val="FFF3E0"/>
                </a:highlight>
                <a:latin typeface="Roboto"/>
                <a:ea typeface="Roboto"/>
                <a:cs typeface="Roboto"/>
                <a:sym typeface="Roboto"/>
              </a:rPr>
              <a:t>DON'T</a:t>
            </a:r>
            <a:endParaRPr sz="1200">
              <a:solidFill>
                <a:srgbClr val="B33F00"/>
              </a:solidFill>
              <a:highlight>
                <a:srgbClr val="FFF3E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dismiss the importance or relevance of any of the information on the Note Well.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interpret the meaning or get into the substance of any of the topics or content of the policies.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communicate that the Note Well conveys all the information participants need to know.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Roboto"/>
              <a:buAutoNum type="arabicPeriod"/>
            </a:pPr>
            <a:r>
              <a:rPr lang="en-US" sz="12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Don’t address questions or concerns in the meeting itself.</a:t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a9a795ffb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a9a795ffb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71a2a6c778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71a2a6c778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2D3C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754464" y="2104950"/>
            <a:ext cx="7635072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Inter"/>
              <a:buNone/>
              <a:defRPr i="0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b="0" i="0" sz="1000" u="none" cap="none" strike="noStrike">
                <a:solidFill>
                  <a:srgbClr val="73737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125" y="4147975"/>
            <a:ext cx="9144001" cy="9957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 14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0438" y="4312261"/>
            <a:ext cx="1256176" cy="6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rgbClr val="002D3C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71900" y="218223"/>
            <a:ext cx="8222100" cy="1288203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Inter"/>
              <a:buNone/>
              <a:defRPr i="0" sz="3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71900" y="1919074"/>
            <a:ext cx="8222100" cy="27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9AD4C"/>
          </p15:clr>
        </p15:guide>
        <p15:guide id="2" pos="2880">
          <p15:clr>
            <a:srgbClr val="F9AD4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rgbClr val="002D3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  <a:defRPr i="0" u="none" cap="none" strike="noStrike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bg>
      <p:bgPr>
        <a:solidFill>
          <a:srgbClr val="002D3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0" y="1685999"/>
            <a:ext cx="9144000" cy="108601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71900" y="738725"/>
            <a:ext cx="8222100" cy="767701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71900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■"/>
              <a:defRPr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●"/>
              <a:defRPr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nter"/>
              <a:buChar char="○"/>
              <a:defRPr i="0" sz="14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694249" y="1919074"/>
            <a:ext cx="3999901" cy="27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n title" type="titleOnly">
  <p:cSld name="TITLE_ONLY">
    <p:bg>
      <p:bgPr>
        <a:solidFill>
          <a:srgbClr val="002D3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flipH="1" rot="10800000">
            <a:off x="0" y="770474"/>
            <a:ext cx="9144000" cy="438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158699" y="61427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  <a:defRPr i="0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Inter"/>
              <a:buNone/>
              <a:defRPr i="0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60950" y="1001775"/>
            <a:ext cx="8222100" cy="3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002D3C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●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○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Inter"/>
              <a:buChar char="■"/>
              <a:defRPr i="0" sz="1800" u="none" cap="none" strike="noStrike">
                <a:solidFill>
                  <a:srgbClr val="737373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u="none" cap="none" strike="noStrike">
                <a:solidFill>
                  <a:srgbClr val="737373"/>
                </a:solidFill>
                <a:latin typeface="Open Sans Medium"/>
                <a:ea typeface="Open Sans Medium"/>
                <a:cs typeface="Open Sans Medium"/>
                <a:sym typeface="Open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 flipH="1" rot="10800000">
            <a:off x="0" y="656300"/>
            <a:ext cx="9144000" cy="4478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/>
          <p:nvPr/>
        </p:nvSpPr>
        <p:spPr>
          <a:xfrm>
            <a:off x="0" y="65635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401925" y="16350"/>
            <a:ext cx="85230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b="0" i="0" sz="2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22625" y="4520234"/>
            <a:ext cx="830437" cy="474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ctrTitle"/>
          </p:nvPr>
        </p:nvSpPr>
        <p:spPr>
          <a:xfrm>
            <a:off x="390525" y="1819275"/>
            <a:ext cx="8222100" cy="9335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Open Sans"/>
              <a:buNone/>
              <a:defRPr b="0" i="0" sz="38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0"/>
          <p:cNvSpPr/>
          <p:nvPr/>
        </p:nvSpPr>
        <p:spPr>
          <a:xfrm>
            <a:off x="-125" y="4147975"/>
            <a:ext cx="9144000" cy="995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55588" y="4312262"/>
            <a:ext cx="942131" cy="50034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 txBox="1"/>
          <p:nvPr/>
        </p:nvSpPr>
        <p:spPr>
          <a:xfrm>
            <a:off x="381005" y="4507324"/>
            <a:ext cx="2750400" cy="276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Making the Internet work better</a:t>
            </a:r>
            <a:endParaRPr b="0" i="0" sz="1200" u="none" cap="none" strike="noStrike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 flipH="1" rot="10800000">
            <a:off x="0" y="1685925"/>
            <a:ext cx="9144000" cy="34575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0" y="168600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  <a:defRPr b="0" i="0" sz="3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627500" y="1794600"/>
            <a:ext cx="8066400" cy="27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D3C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2D3C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2D3C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002D3C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460950" y="2065350"/>
            <a:ext cx="8222100" cy="1012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Open Sans"/>
              <a:buNone/>
              <a:defRPr b="0" i="0" sz="4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 flipH="1" rot="10800000">
            <a:off x="0" y="1685925"/>
            <a:ext cx="9144000" cy="34575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0" y="1686000"/>
            <a:ext cx="9144000" cy="10867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"/>
              <a:buNone/>
              <a:defRPr b="0" i="0" sz="3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471900" y="1919075"/>
            <a:ext cx="3999900" cy="27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2" type="body"/>
          </p:nvPr>
        </p:nvSpPr>
        <p:spPr>
          <a:xfrm>
            <a:off x="4694250" y="1919075"/>
            <a:ext cx="3999900" cy="27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78789" y="4689588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4725" y="4520225"/>
            <a:ext cx="618862" cy="3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>
            <p:ph type="title"/>
          </p:nvPr>
        </p:nvSpPr>
        <p:spPr>
          <a:xfrm>
            <a:off x="226078" y="357800"/>
            <a:ext cx="2808000" cy="9533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●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○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Montserrat"/>
              <a:buChar char="■"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90250" y="488250"/>
            <a:ext cx="6227100" cy="409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Open Sans"/>
              <a:buNone/>
              <a:defRPr b="0" i="0" sz="52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 rot="5400000">
            <a:off x="1946462" y="2517713"/>
            <a:ext cx="5142825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  <a:defRPr b="0" i="0" sz="4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265500" y="2779467"/>
            <a:ext cx="4045200" cy="12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Montserrat"/>
              <a:buNone/>
              <a:defRPr b="0" i="0" sz="21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4939500" y="724200"/>
            <a:ext cx="3837000" cy="3695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 flipH="1" rot="10800000">
            <a:off x="0" y="-75"/>
            <a:ext cx="9144000" cy="4695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/>
          <p:nvPr/>
        </p:nvSpPr>
        <p:spPr>
          <a:xfrm flipH="1" rot="10800000">
            <a:off x="0" y="4622800"/>
            <a:ext cx="9144000" cy="74025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57150" y="4696825"/>
            <a:ext cx="8382000" cy="44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None/>
              <a:defRPr b="0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hasCustomPrompt="1" type="title"/>
          </p:nvPr>
        </p:nvSpPr>
        <p:spPr>
          <a:xfrm>
            <a:off x="475500" y="1258525"/>
            <a:ext cx="8222100" cy="19635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Arial"/>
              <a:buNone/>
              <a:defRPr b="0" i="0" sz="1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75500" y="3304625"/>
            <a:ext cx="8222100" cy="13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735428" y="4724798"/>
            <a:ext cx="336813" cy="33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  <a:defRPr i="0" sz="1100" u="none" cap="none" strike="noStrike">
                <a:solidFill>
                  <a:srgbClr val="737373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0"/>
            <a:ext cx="8229600" cy="1063229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○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800"/>
              <a:buFont typeface="Montserrat"/>
              <a:buChar char="■"/>
              <a:defRPr b="0" i="0" sz="1800" u="none" cap="none" strike="noStrike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002D3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471900" y="1919075"/>
            <a:ext cx="8222100" cy="27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523541" y="4695623"/>
            <a:ext cx="5487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atatracker.ietf.org/meeting/agenda" TargetMode="External"/><Relationship Id="rId4" Type="http://schemas.openxmlformats.org/officeDocument/2006/relationships/hyperlink" Target="https://www.ietf.org/meeting/preparation/" TargetMode="External"/><Relationship Id="rId5" Type="http://schemas.openxmlformats.org/officeDocument/2006/relationships/hyperlink" Target="https://www.ietf.org/meeting/issu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754464" y="2104950"/>
            <a:ext cx="76350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</a:pPr>
            <a:r>
              <a:rPr lang="en-US" sz="3600">
                <a:latin typeface="Inter"/>
                <a:ea typeface="Inter"/>
                <a:cs typeface="Inter"/>
                <a:sym typeface="Inter"/>
              </a:rPr>
              <a:t>IETF 1</a:t>
            </a:r>
            <a:r>
              <a:rPr lang="en-US" sz="3600"/>
              <a:t>25</a:t>
            </a:r>
            <a:r>
              <a:rPr lang="en-US" sz="3600">
                <a:latin typeface="Inter"/>
                <a:ea typeface="Inter"/>
                <a:cs typeface="Inter"/>
                <a:sym typeface="Inter"/>
              </a:rPr>
              <a:t> Session title </a:t>
            </a:r>
            <a:endParaRPr sz="3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754475" y="1465800"/>
            <a:ext cx="49869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NN March 2026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94650" y="4322350"/>
            <a:ext cx="3783600" cy="4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Internet Engineering Task Force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© 2026 IETF Trust 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Production by Meetecho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754475" y="3154800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2CC"/>
                </a:solidFill>
                <a:latin typeface="Inter"/>
                <a:ea typeface="Inter"/>
                <a:cs typeface="Inter"/>
                <a:sym typeface="Inter"/>
              </a:rPr>
              <a:t>This session is being recorded</a:t>
            </a:r>
            <a:endParaRPr sz="2400">
              <a:solidFill>
                <a:srgbClr val="FFF2C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311700" y="740175"/>
            <a:ext cx="8561400" cy="41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By participating in the IETF you agree to follow IETF processes and policies. This Note Well is a reminder 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some of those policies. For a linked version of this text, please visit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www.ietf.org/note-well 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use the QR code below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401925" y="16350"/>
            <a:ext cx="8523000" cy="6027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SemiBold"/>
              <a:buNone/>
            </a:pPr>
            <a:r>
              <a:rPr lang="en-US" sz="2400">
                <a:latin typeface="Inter"/>
                <a:ea typeface="Inter"/>
                <a:cs typeface="Inter"/>
                <a:sym typeface="Inter"/>
              </a:rPr>
              <a:t>Note Well</a:t>
            </a:r>
            <a:endParaRPr i="0" sz="2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311700" y="1282025"/>
            <a:ext cx="7584300" cy="3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participants are expected to behave in a professional manner and extend respect and courtesy to their colleagues at all times (see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7154: IETF Guidelines for Conduct and IETF Anti-Harassment Policy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If you have any concerns about behavior, please contact the </a:t>
            </a:r>
            <a:r>
              <a:rPr i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Ombudsteam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who have a duty of confidentiality and extensive powers to act, as set out in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7776: IETF Anti-Harassment Procedures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you are aware that any IETF contribution (as defined in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5378: Rights Contributors Provide to the IETF Trust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 is covered by patents or patent applications that are owned or controlled by you, your employer or your sponsor, you must disclose that fact,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 not participate in the discussion </a:t>
            </a:r>
            <a:r>
              <a:rPr lang="en-US" sz="120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(see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8179: Intellectual Property Rights in IETF Technology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detailed process information consult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2026: Internet Standards Process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RFC 2418: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Working Group Guidelines and Procedures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updates to those.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nter"/>
              <a:buChar char="●"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IETF routinely makes public written, audio, video, and photographic records </a:t>
            </a:r>
            <a:b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IETF activities, including your personal information as set out in the </a:t>
            </a:r>
            <a:r>
              <a:rPr b="1"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IETF Privacy Statement</a:t>
            </a: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advice, please talk to Working Group chairs or Area Directors.</a:t>
            </a:r>
            <a:endParaRPr sz="12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9875" y="3038675"/>
            <a:ext cx="1383300" cy="1383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/>
              <a:t>IETF 125 Meeting Tips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31800" y="1896950"/>
            <a:ext cx="8480400" cy="27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In-person participants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Make sure to sign into the session via Datatracker or the QR Code in this session.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Use Meetecho (usually the “Meete</a:t>
            </a:r>
            <a:r>
              <a:rPr lang="en-US" sz="1600">
                <a:solidFill>
                  <a:srgbClr val="000000"/>
                </a:solidFill>
              </a:rPr>
              <a:t>cho lite”) client to join the queue, show hands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i="1" lang="en-US" sz="1600">
                <a:solidFill>
                  <a:srgbClr val="000000"/>
                </a:solidFill>
              </a:rPr>
              <a:t>Keep audio and video off if not using the onsite version.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Remote participants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Make sure your audio and video are off unless you are chairing or presenting during a session.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Use of a headset is strongly recommended.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0000"/>
                </a:solidFill>
              </a:rPr>
              <a:t>All participants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-US" sz="1600">
                <a:solidFill>
                  <a:srgbClr val="000000"/>
                </a:solidFill>
              </a:rPr>
              <a:t>State your name each time you begin speaking in the queue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1709550" y="218225"/>
            <a:ext cx="57249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E599"/>
                </a:solidFill>
                <a:latin typeface="Montserrat"/>
                <a:ea typeface="Montserrat"/>
                <a:cs typeface="Montserrat"/>
                <a:sym typeface="Montserrat"/>
              </a:rPr>
              <a:t>This session is being recorded</a:t>
            </a:r>
            <a:endParaRPr sz="2400">
              <a:solidFill>
                <a:srgbClr val="FFE5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3725" y="3813950"/>
            <a:ext cx="1818475" cy="8103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30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471900" y="218223"/>
            <a:ext cx="82221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/>
              <a:t>Resources for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IETF </a:t>
            </a:r>
            <a:r>
              <a:rPr lang="en-US"/>
              <a:t>125 Shenzhen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Agenda</a:t>
            </a:r>
            <a:br>
              <a:rPr b="1"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3"/>
              </a:rPr>
              <a:t>https://datatracker.ietf.org/meeting/agenda</a:t>
            </a:r>
            <a:r>
              <a:rPr lang="en-US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Meetecho and other information: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4"/>
              </a:rPr>
              <a:t>https://www.ietf.org/meeting/preparation/</a:t>
            </a:r>
            <a:endParaRPr>
              <a:solidFill>
                <a:srgbClr val="000000"/>
              </a:solidFill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If you need technical assistance, see the Reporting Issues page:</a:t>
            </a:r>
            <a:br>
              <a:rPr lang="en-US">
                <a:solidFill>
                  <a:srgbClr val="000000"/>
                </a:solidFill>
              </a:rPr>
            </a:br>
            <a:r>
              <a:rPr lang="en-US" u="sng">
                <a:solidFill>
                  <a:schemeClr val="hlink"/>
                </a:solidFill>
                <a:hlinkClick r:id="rId5"/>
              </a:rPr>
              <a:t>https://www.ietf.org/meeting/issues/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735428" y="4724798"/>
            <a:ext cx="3369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1000"/>
              <a:buFont typeface="Robot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ETF Template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002D3C"/>
      </a:dk1>
      <a:lt1>
        <a:srgbClr val="4285F4"/>
      </a:lt1>
      <a:dk2>
        <a:srgbClr val="A7A7A7"/>
      </a:dk2>
      <a:lt2>
        <a:srgbClr val="53535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